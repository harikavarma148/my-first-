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0" r:id="rId5"/>
    <p:sldId id="261" r:id="rId6"/>
    <p:sldId id="271" r:id="rId7"/>
    <p:sldId id="268" r:id="rId8"/>
    <p:sldId id="269" r:id="rId9"/>
    <p:sldId id="264" r:id="rId10"/>
    <p:sldId id="267" r:id="rId11"/>
    <p:sldId id="259" r:id="rId12"/>
    <p:sldId id="270" r:id="rId13"/>
    <p:sldId id="266"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C19995-90C8-44BF-9AD9-0B2144C286BB}" type="datetimeFigureOut">
              <a:rPr lang="en-IN" smtClean="0"/>
              <a:t>11-06-2025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593FA0-23A4-4E94-881E-B5E0A21C3B34}" type="slidenum">
              <a:rPr lang="en-IN" smtClean="0"/>
              <a:t>‹#›</a:t>
            </a:fld>
            <a:endParaRPr lang="en-IN"/>
          </a:p>
        </p:txBody>
      </p:sp>
    </p:spTree>
    <p:extLst>
      <p:ext uri="{BB962C8B-B14F-4D97-AF65-F5344CB8AC3E}">
        <p14:creationId xmlns:p14="http://schemas.microsoft.com/office/powerpoint/2010/main" val="3058987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486058"/>
            <a:ext cx="8458200" cy="3885883"/>
          </a:xfrm>
        </p:spPr>
        <p:txBody>
          <a:bodyPr>
            <a:normAutofit/>
          </a:bodyPr>
          <a:lstStyle/>
          <a:p>
            <a:r>
              <a:rPr lang="en-IN" sz="2400" dirty="0">
                <a:solidFill>
                  <a:srgbClr val="0070C0"/>
                </a:solidFill>
              </a:rPr>
              <a:t>A Mini Project Report on</a:t>
            </a:r>
            <a:br>
              <a:rPr lang="en-IN" sz="3600" dirty="0"/>
            </a:br>
            <a:r>
              <a:rPr sz="2400" dirty="0">
                <a:solidFill>
                  <a:srgbClr val="FF0000"/>
                </a:solidFill>
              </a:rPr>
              <a:t>R</a:t>
            </a:r>
            <a:r>
              <a:rPr lang="en-IN" sz="2400" dirty="0">
                <a:solidFill>
                  <a:srgbClr val="FF0000"/>
                </a:solidFill>
              </a:rPr>
              <a:t>EAL</a:t>
            </a:r>
            <a:r>
              <a:rPr sz="2400" dirty="0">
                <a:solidFill>
                  <a:srgbClr val="FF0000"/>
                </a:solidFill>
              </a:rPr>
              <a:t>-T</a:t>
            </a:r>
            <a:r>
              <a:rPr lang="en-IN" sz="2400" dirty="0">
                <a:solidFill>
                  <a:srgbClr val="FF0000"/>
                </a:solidFill>
              </a:rPr>
              <a:t>IME</a:t>
            </a:r>
            <a:r>
              <a:rPr sz="2400" dirty="0">
                <a:solidFill>
                  <a:srgbClr val="FF0000"/>
                </a:solidFill>
              </a:rPr>
              <a:t> </a:t>
            </a:r>
            <a:r>
              <a:rPr lang="en-IN" sz="2400" dirty="0">
                <a:solidFill>
                  <a:srgbClr val="FF0000"/>
                </a:solidFill>
              </a:rPr>
              <a:t>GUN DETECTION USING MACHINE LEARNING</a:t>
            </a:r>
            <a:endParaRPr sz="2400" dirty="0">
              <a:solidFill>
                <a:srgbClr val="FF0000"/>
              </a:solidFill>
            </a:endParaRPr>
          </a:p>
        </p:txBody>
      </p:sp>
      <p:sp>
        <p:nvSpPr>
          <p:cNvPr id="3" name="Content Placeholder 2"/>
          <p:cNvSpPr>
            <a:spLocks noGrp="1"/>
          </p:cNvSpPr>
          <p:nvPr>
            <p:ph idx="1"/>
          </p:nvPr>
        </p:nvSpPr>
        <p:spPr>
          <a:xfrm>
            <a:off x="5129784" y="4233673"/>
            <a:ext cx="4862628" cy="1828800"/>
          </a:xfrm>
        </p:spPr>
        <p:txBody>
          <a:bodyPr>
            <a:normAutofit/>
          </a:bodyPr>
          <a:lstStyle/>
          <a:p>
            <a:pPr marL="0" indent="0">
              <a:buNone/>
            </a:pPr>
            <a:r>
              <a:rPr lang="en-IN" sz="1800" dirty="0"/>
              <a:t>Presented By</a:t>
            </a:r>
          </a:p>
          <a:p>
            <a:pPr marL="0" indent="0">
              <a:buNone/>
            </a:pPr>
            <a:r>
              <a:rPr lang="en-IN" sz="1800" dirty="0"/>
              <a:t>P. Harsha vardhan		(22911A05H4)</a:t>
            </a:r>
          </a:p>
          <a:p>
            <a:pPr marL="0" indent="0">
              <a:buNone/>
            </a:pPr>
            <a:r>
              <a:rPr lang="en-IN" sz="1800" dirty="0"/>
              <a:t>S. Pallavi			        (22911A05J2)</a:t>
            </a:r>
          </a:p>
          <a:p>
            <a:pPr marL="0" indent="0">
              <a:buNone/>
            </a:pPr>
            <a:r>
              <a:rPr lang="en-IN" sz="1800" dirty="0"/>
              <a:t>T. Harika	                         (22911A05J5)</a:t>
            </a:r>
          </a:p>
          <a:p>
            <a:pPr marL="0" indent="0">
              <a:buNone/>
            </a:pPr>
            <a:r>
              <a:rPr lang="en-IN" sz="1800" dirty="0"/>
              <a:t>K. Vaishnavi	                (22911A05J7)</a:t>
            </a:r>
            <a:endParaRPr sz="1800" dirty="0"/>
          </a:p>
        </p:txBody>
      </p:sp>
      <p:pic>
        <p:nvPicPr>
          <p:cNvPr id="1026" name="Picture 2" descr="VJIT – Vidya Jyothi Institute of Technology">
            <a:extLst>
              <a:ext uri="{FF2B5EF4-FFF2-40B4-BE49-F238E27FC236}">
                <a16:creationId xmlns:a16="http://schemas.microsoft.com/office/drawing/2014/main" id="{0099A878-7B46-94D1-B4C1-F237D479CB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6243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AD30A47-717B-45DB-89AA-8BFCA5178C66}"/>
              </a:ext>
            </a:extLst>
          </p:cNvPr>
          <p:cNvSpPr txBox="1"/>
          <p:nvPr/>
        </p:nvSpPr>
        <p:spPr>
          <a:xfrm>
            <a:off x="427741" y="5371941"/>
            <a:ext cx="2767946" cy="923330"/>
          </a:xfrm>
          <a:prstGeom prst="rect">
            <a:avLst/>
          </a:prstGeom>
          <a:noFill/>
        </p:spPr>
        <p:txBody>
          <a:bodyPr wrap="square" rtlCol="0">
            <a:spAutoFit/>
          </a:bodyPr>
          <a:lstStyle/>
          <a:p>
            <a:r>
              <a:rPr lang="en-US" dirty="0"/>
              <a:t>Guide Name:</a:t>
            </a:r>
          </a:p>
          <a:p>
            <a:r>
              <a:rPr lang="en-IN" sz="1800" kern="100" dirty="0">
                <a:effectLst/>
                <a:latin typeface="Times New Roman" panose="02020603050405020304" pitchFamily="18" charset="0"/>
                <a:ea typeface="Times New Roman" panose="02020603050405020304" pitchFamily="18" charset="0"/>
              </a:rPr>
              <a:t>Mr.</a:t>
            </a:r>
            <a:r>
              <a:rPr lang="en-IN" sz="1800" kern="100" dirty="0">
                <a:effectLst/>
                <a:latin typeface="Calibri" panose="020F0502020204030204" pitchFamily="34" charset="0"/>
                <a:ea typeface="Calibri" panose="020F0502020204030204" pitchFamily="34" charset="0"/>
              </a:rPr>
              <a:t> </a:t>
            </a:r>
            <a:r>
              <a:rPr lang="en-IN" sz="1800" kern="100" dirty="0">
                <a:effectLst/>
                <a:latin typeface="Times New Roman" panose="02020603050405020304" pitchFamily="18" charset="0"/>
                <a:ea typeface="Times New Roman" panose="02020603050405020304" pitchFamily="18" charset="0"/>
              </a:rPr>
              <a:t>PVK </a:t>
            </a:r>
            <a:r>
              <a:rPr lang="en-IN" sz="1800" kern="100" dirty="0" err="1">
                <a:effectLst/>
                <a:latin typeface="Times New Roman" panose="02020603050405020304" pitchFamily="18" charset="0"/>
                <a:ea typeface="Times New Roman" panose="02020603050405020304" pitchFamily="18" charset="0"/>
              </a:rPr>
              <a:t>Subbaraya</a:t>
            </a:r>
            <a:r>
              <a:rPr lang="en-IN" sz="1800" kern="100" dirty="0">
                <a:effectLst/>
                <a:latin typeface="Times New Roman" panose="02020603050405020304" pitchFamily="18" charset="0"/>
                <a:ea typeface="Times New Roman" panose="02020603050405020304" pitchFamily="18" charset="0"/>
              </a:rPr>
              <a:t> Sarma</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184" y="370649"/>
            <a:ext cx="8229600" cy="593725"/>
          </a:xfrm>
        </p:spPr>
        <p:txBody>
          <a:bodyPr>
            <a:normAutofit/>
          </a:bodyPr>
          <a:lstStyle/>
          <a:p>
            <a:r>
              <a:rPr sz="2800" dirty="0"/>
              <a:t>Abstract</a:t>
            </a:r>
          </a:p>
        </p:txBody>
      </p:sp>
      <p:sp>
        <p:nvSpPr>
          <p:cNvPr id="3" name="Content Placeholder 2"/>
          <p:cNvSpPr>
            <a:spLocks noGrp="1"/>
          </p:cNvSpPr>
          <p:nvPr>
            <p:ph idx="1"/>
          </p:nvPr>
        </p:nvSpPr>
        <p:spPr>
          <a:xfrm>
            <a:off x="228600" y="1781666"/>
            <a:ext cx="8814816" cy="4902598"/>
          </a:xfrm>
        </p:spPr>
        <p:txBody>
          <a:bodyPr/>
          <a:lstStyle/>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0" indent="0">
              <a:buNone/>
            </a:pPr>
            <a:endParaRPr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55262DC4-3996-3359-63CB-6410867EEB06}"/>
              </a:ext>
            </a:extLst>
          </p:cNvPr>
          <p:cNvSpPr>
            <a:spLocks noChangeArrowheads="1"/>
          </p:cNvSpPr>
          <p:nvPr/>
        </p:nvSpPr>
        <p:spPr bwMode="auto">
          <a:xfrm rot="10800000" flipV="1">
            <a:off x="490193" y="1141121"/>
            <a:ext cx="7871382"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surveillance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to detect guns and dangerous weapons in real-time.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Utilizes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YOLOv5 deep learning model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fast and accurate object detection.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Continuously monitors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live video feeds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identifies firearms with bounding boxes.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existing CCTV systems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enhance surveillance efficiency.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Aims to improve monitoring 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high-risk or sensitive environments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airports, schools, and public places.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public safety efforts by providing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intelligent layer of surveillance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212" y="189754"/>
            <a:ext cx="8229600" cy="648906"/>
          </a:xfrm>
        </p:spPr>
        <p:txBody>
          <a:bodyPr>
            <a:normAutofit fontScale="90000"/>
          </a:bodyPr>
          <a:lstStyle/>
          <a:p>
            <a:r>
              <a:rPr dirty="0"/>
              <a:t>Introduction</a:t>
            </a:r>
          </a:p>
        </p:txBody>
      </p:sp>
      <p:sp>
        <p:nvSpPr>
          <p:cNvPr id="4" name="TextBox 3">
            <a:extLst>
              <a:ext uri="{FF2B5EF4-FFF2-40B4-BE49-F238E27FC236}">
                <a16:creationId xmlns:a16="http://schemas.microsoft.com/office/drawing/2014/main" id="{7311DE62-0C3B-A5DE-2DF3-1070AEF3EA7E}"/>
              </a:ext>
            </a:extLst>
          </p:cNvPr>
          <p:cNvSpPr txBox="1"/>
          <p:nvPr/>
        </p:nvSpPr>
        <p:spPr>
          <a:xfrm>
            <a:off x="546755" y="857188"/>
            <a:ext cx="8276734" cy="5866350"/>
          </a:xfrm>
          <a:prstGeom prst="rect">
            <a:avLst/>
          </a:prstGeom>
          <a:noFill/>
        </p:spPr>
        <p:txBody>
          <a:bodyPr wrap="square">
            <a:spAutoFit/>
          </a:bodyPr>
          <a:lstStyle/>
          <a:p>
            <a:pPr>
              <a:lnSpc>
                <a:spcPct val="150000"/>
              </a:lnSpc>
              <a:buFont typeface="Arial" panose="020B0604020202020204" pitchFamily="34" charset="0"/>
              <a:buChar char="•"/>
            </a:pPr>
            <a:r>
              <a:rPr lang="en-US" dirty="0"/>
              <a:t>In recent years, the rise in </a:t>
            </a:r>
            <a:r>
              <a:rPr lang="en-US" b="1" dirty="0"/>
              <a:t>gun-related violence</a:t>
            </a:r>
            <a:r>
              <a:rPr lang="en-US" dirty="0"/>
              <a:t> has raised significant concerns around </a:t>
            </a:r>
            <a:r>
              <a:rPr lang="en-US" b="1" dirty="0"/>
              <a:t>public safety and security</a:t>
            </a:r>
            <a:r>
              <a:rPr lang="en-US" dirty="0"/>
              <a:t>.</a:t>
            </a:r>
          </a:p>
          <a:p>
            <a:pPr>
              <a:lnSpc>
                <a:spcPct val="150000"/>
              </a:lnSpc>
              <a:buFont typeface="Arial" panose="020B0604020202020204" pitchFamily="34" charset="0"/>
              <a:buChar char="•"/>
            </a:pPr>
            <a:r>
              <a:rPr lang="en-US" dirty="0"/>
              <a:t>Traditional surveillance systems rely heavily on </a:t>
            </a:r>
            <a:r>
              <a:rPr lang="en-US" b="1" dirty="0"/>
              <a:t>manual monitoring</a:t>
            </a:r>
            <a:r>
              <a:rPr lang="en-US" dirty="0"/>
              <a:t>, which is often inefficient, labor-intensive, and prone to human error.</a:t>
            </a:r>
          </a:p>
          <a:p>
            <a:pPr>
              <a:lnSpc>
                <a:spcPct val="150000"/>
              </a:lnSpc>
              <a:buFont typeface="Arial" panose="020B0604020202020204" pitchFamily="34" charset="0"/>
              <a:buChar char="•"/>
            </a:pPr>
            <a:r>
              <a:rPr lang="en-US" dirty="0"/>
              <a:t>The need for </a:t>
            </a:r>
            <a:r>
              <a:rPr lang="en-US" b="1" dirty="0"/>
              <a:t>automated and intelligent surveillance systems</a:t>
            </a:r>
            <a:r>
              <a:rPr lang="en-US" dirty="0"/>
              <a:t> has become critical, especially in high-risk areas like airports, schools, and public gatherings.</a:t>
            </a:r>
          </a:p>
          <a:p>
            <a:pPr>
              <a:lnSpc>
                <a:spcPct val="150000"/>
              </a:lnSpc>
              <a:buFont typeface="Arial" panose="020B0604020202020204" pitchFamily="34" charset="0"/>
              <a:buChar char="•"/>
            </a:pPr>
            <a:r>
              <a:rPr lang="en-US" b="1" dirty="0"/>
              <a:t>Deep learning and computer vision technologies</a:t>
            </a:r>
            <a:r>
              <a:rPr lang="en-US" dirty="0"/>
              <a:t> have advanced significantly, making it possible to detect objects such as firearms in real-time video feeds.</a:t>
            </a:r>
          </a:p>
          <a:p>
            <a:pPr>
              <a:lnSpc>
                <a:spcPct val="150000"/>
              </a:lnSpc>
              <a:buFont typeface="Arial" panose="020B0604020202020204" pitchFamily="34" charset="0"/>
              <a:buChar char="•"/>
            </a:pPr>
            <a:r>
              <a:rPr lang="en-US" dirty="0"/>
              <a:t>This project introduces a </a:t>
            </a:r>
            <a:r>
              <a:rPr lang="en-US" b="1" dirty="0"/>
              <a:t>Gun Detection System</a:t>
            </a:r>
            <a:r>
              <a:rPr lang="en-US" dirty="0"/>
              <a:t> that leverages the </a:t>
            </a:r>
            <a:r>
              <a:rPr lang="en-US" b="1" dirty="0"/>
              <a:t>YOLOv5 model</a:t>
            </a:r>
            <a:r>
              <a:rPr lang="en-US" dirty="0"/>
              <a:t>, known for its speed and accuracy in object detection tasks.</a:t>
            </a:r>
          </a:p>
          <a:p>
            <a:pPr>
              <a:lnSpc>
                <a:spcPct val="150000"/>
              </a:lnSpc>
              <a:buFont typeface="Arial" panose="020B0604020202020204" pitchFamily="34" charset="0"/>
              <a:buChar char="•"/>
            </a:pPr>
            <a:r>
              <a:rPr lang="en-US" dirty="0"/>
              <a:t>The system is designed to operate on live video input, providing real-time detection and </a:t>
            </a:r>
            <a:r>
              <a:rPr lang="en-US" b="1" dirty="0"/>
              <a:t>highlighting detected guns with bounding boxes</a:t>
            </a:r>
            <a:r>
              <a:rPr lang="en-US" dirty="0"/>
              <a:t>.</a:t>
            </a:r>
          </a:p>
          <a:p>
            <a:pPr>
              <a:lnSpc>
                <a:spcPct val="150000"/>
              </a:lnSpc>
              <a:buFont typeface="Arial" panose="020B0604020202020204" pitchFamily="34" charset="0"/>
              <a:buChar char="•"/>
            </a:pPr>
            <a:r>
              <a:rPr lang="en-US" dirty="0"/>
              <a:t>The goal is to offer a </a:t>
            </a:r>
            <a:r>
              <a:rPr lang="en-US" b="1" dirty="0"/>
              <a:t>scalable, efficient, and cost-effective solution</a:t>
            </a:r>
            <a:r>
              <a:rPr lang="en-US" dirty="0"/>
              <a:t> that can be easily integrated with existing </a:t>
            </a:r>
            <a:r>
              <a:rPr lang="en-US" b="1" dirty="0"/>
              <a:t>CCTV infrastructure</a:t>
            </a:r>
            <a:r>
              <a:rPr lang="en-US" dirty="0"/>
              <a:t> to enhance safety.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9344" y="100584"/>
            <a:ext cx="6153912" cy="521525"/>
          </a:xfrm>
        </p:spPr>
        <p:txBody>
          <a:bodyPr>
            <a:normAutofit/>
          </a:bodyPr>
          <a:lstStyle/>
          <a:p>
            <a:r>
              <a:rPr sz="2400" dirty="0"/>
              <a:t>Existing Methodology </a:t>
            </a:r>
          </a:p>
        </p:txBody>
      </p:sp>
      <p:sp>
        <p:nvSpPr>
          <p:cNvPr id="7" name="Rectangle 2">
            <a:extLst>
              <a:ext uri="{FF2B5EF4-FFF2-40B4-BE49-F238E27FC236}">
                <a16:creationId xmlns:a16="http://schemas.microsoft.com/office/drawing/2014/main" id="{D550363D-FB54-3357-D14B-B30798BCB85F}"/>
              </a:ext>
            </a:extLst>
          </p:cNvPr>
          <p:cNvSpPr>
            <a:spLocks noGrp="1" noChangeArrowheads="1"/>
          </p:cNvSpPr>
          <p:nvPr>
            <p:ph idx="1"/>
          </p:nvPr>
        </p:nvSpPr>
        <p:spPr bwMode="auto">
          <a:xfrm>
            <a:off x="169682" y="584488"/>
            <a:ext cx="8889477" cy="627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Manual Monitoring: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Surveillance footage is observed manually by security personnel via CCTV systems, requiring constant human attention.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Complete Human Dependency: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Detection of weapons or suspicious activities depends entirely on the vigilance and observational skills of individuals.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Real-Time Detection Capability: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Traditional systems lack AI-powered automation for identifying firearms or threats in live video feeds.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 Risk of Human Error:</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Fatigue, distractions, or overwhelming footage can lead to missed detections or delayed responses to critical threats.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Delayed Response Time: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Without automated alerts or detection, the time taken to recognize and react to a threat is significantly longer.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6046"/>
            <a:ext cx="8229600" cy="694626"/>
          </a:xfrm>
        </p:spPr>
        <p:txBody>
          <a:bodyPr>
            <a:normAutofit/>
          </a:bodyPr>
          <a:lstStyle/>
          <a:p>
            <a:r>
              <a:rPr sz="2400" dirty="0"/>
              <a:t>Proposed Methodology</a:t>
            </a:r>
          </a:p>
        </p:txBody>
      </p:sp>
      <p:sp>
        <p:nvSpPr>
          <p:cNvPr id="3" name="Content Placeholder 2"/>
          <p:cNvSpPr>
            <a:spLocks noGrp="1"/>
          </p:cNvSpPr>
          <p:nvPr>
            <p:ph idx="1"/>
          </p:nvPr>
        </p:nvSpPr>
        <p:spPr>
          <a:xfrm>
            <a:off x="210312" y="1131216"/>
            <a:ext cx="8759952" cy="5589306"/>
          </a:xfrm>
        </p:spPr>
        <p:txBody>
          <a:bodyPr>
            <a:noAutofit/>
          </a:bodyPr>
          <a:lstStyle/>
          <a:p>
            <a:r>
              <a:rPr lang="en-US" sz="2000" b="1" dirty="0"/>
              <a:t>Deep Learning-Based Weapon Detection:</a:t>
            </a:r>
            <a:br>
              <a:rPr lang="en-US" sz="2000" dirty="0"/>
            </a:br>
            <a:r>
              <a:rPr lang="en-US" sz="2000" dirty="0"/>
              <a:t>Utilizes the </a:t>
            </a:r>
            <a:r>
              <a:rPr lang="en-US" sz="2000" b="1" dirty="0"/>
              <a:t>YOLOv5</a:t>
            </a:r>
            <a:r>
              <a:rPr lang="en-US" sz="2000" dirty="0"/>
              <a:t> object detection model to accurately detect </a:t>
            </a:r>
            <a:r>
              <a:rPr lang="en-US" sz="2000" b="1" dirty="0"/>
              <a:t>guns</a:t>
            </a:r>
            <a:r>
              <a:rPr lang="en-US" sz="2000" dirty="0"/>
              <a:t> and potentially other dangerous weapons from video frames.</a:t>
            </a:r>
          </a:p>
          <a:p>
            <a:r>
              <a:rPr lang="en-US" sz="2000" b="1" dirty="0"/>
              <a:t>Real-Time Video Processing:</a:t>
            </a:r>
            <a:br>
              <a:rPr lang="en-US" sz="2000" dirty="0"/>
            </a:br>
            <a:r>
              <a:rPr lang="en-US" sz="2000" dirty="0"/>
              <a:t>Continuously processes input from </a:t>
            </a:r>
            <a:r>
              <a:rPr lang="en-US" sz="2000" b="1" dirty="0"/>
              <a:t>live CCTV or webcam feeds</a:t>
            </a:r>
            <a:r>
              <a:rPr lang="en-US" sz="2000" dirty="0"/>
              <a:t> to enable uninterrupted surveillance.</a:t>
            </a:r>
          </a:p>
          <a:p>
            <a:r>
              <a:rPr lang="en-US" sz="2000" b="1" dirty="0"/>
              <a:t>Visual Detection Output:</a:t>
            </a:r>
            <a:br>
              <a:rPr lang="en-US" sz="2000" dirty="0"/>
            </a:br>
            <a:r>
              <a:rPr lang="en-US" sz="2000" dirty="0"/>
              <a:t>Highlights detected firearms using </a:t>
            </a:r>
            <a:r>
              <a:rPr lang="en-US" sz="2000" b="1" dirty="0"/>
              <a:t>bounding boxes</a:t>
            </a:r>
            <a:r>
              <a:rPr lang="en-US" sz="2000" dirty="0"/>
              <a:t> and </a:t>
            </a:r>
            <a:r>
              <a:rPr lang="en-US" sz="2000" b="1" dirty="0"/>
              <a:t>class labels</a:t>
            </a:r>
            <a:r>
              <a:rPr lang="en-US" sz="2000" dirty="0"/>
              <a:t> overlaid on the video feed for easy identification.</a:t>
            </a:r>
          </a:p>
          <a:p>
            <a:r>
              <a:rPr lang="en-US" sz="2000" b="1" dirty="0"/>
              <a:t>Operator Assistance:</a:t>
            </a:r>
            <a:br>
              <a:rPr lang="en-US" sz="2000" dirty="0"/>
            </a:br>
            <a:r>
              <a:rPr lang="en-US" sz="2000" dirty="0"/>
              <a:t>Reduces manual workload and enhances monitoring efficiency by </a:t>
            </a:r>
            <a:r>
              <a:rPr lang="en-US" sz="2000" b="1" dirty="0"/>
              <a:t>supporting security personnel</a:t>
            </a:r>
            <a:r>
              <a:rPr lang="en-US" sz="2000" dirty="0"/>
              <a:t> with AI-assisted detection.</a:t>
            </a:r>
          </a:p>
          <a:p>
            <a:r>
              <a:rPr lang="en-US" sz="2000" b="1" dirty="0"/>
              <a:t>Seamless Integration:</a:t>
            </a:r>
            <a:br>
              <a:rPr lang="en-US" sz="2000" dirty="0"/>
            </a:br>
            <a:r>
              <a:rPr lang="en-US" sz="2000" dirty="0"/>
              <a:t>Can be deployed alongside </a:t>
            </a:r>
            <a:r>
              <a:rPr lang="en-US" sz="2000" b="1" dirty="0"/>
              <a:t>existing CCTV systems</a:t>
            </a:r>
            <a:r>
              <a:rPr lang="en-US" sz="2000" dirty="0"/>
              <a:t> without the need for extensive hardware upgrades.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43A1F-3350-CBA4-C55B-83EFDD019016}"/>
              </a:ext>
            </a:extLst>
          </p:cNvPr>
          <p:cNvSpPr>
            <a:spLocks noGrp="1"/>
          </p:cNvSpPr>
          <p:nvPr>
            <p:ph type="title"/>
          </p:nvPr>
        </p:nvSpPr>
        <p:spPr/>
        <p:txBody>
          <a:bodyPr/>
          <a:lstStyle/>
          <a:p>
            <a:r>
              <a:rPr lang="en-IN" dirty="0"/>
              <a:t>System Architecture</a:t>
            </a:r>
          </a:p>
        </p:txBody>
      </p:sp>
      <p:pic>
        <p:nvPicPr>
          <p:cNvPr id="4098" name="Picture 2">
            <a:extLst>
              <a:ext uri="{FF2B5EF4-FFF2-40B4-BE49-F238E27FC236}">
                <a16:creationId xmlns:a16="http://schemas.microsoft.com/office/drawing/2014/main" id="{0A125793-510D-956B-D847-4F8D447B04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3833" y="1892431"/>
            <a:ext cx="6788944"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7424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DED0F-6F67-2E33-7661-6C5BEA60C748}"/>
              </a:ext>
            </a:extLst>
          </p:cNvPr>
          <p:cNvSpPr>
            <a:spLocks noGrp="1"/>
          </p:cNvSpPr>
          <p:nvPr>
            <p:ph idx="1"/>
          </p:nvPr>
        </p:nvSpPr>
        <p:spPr>
          <a:xfrm>
            <a:off x="292231" y="659877"/>
            <a:ext cx="8729221" cy="5901180"/>
          </a:xfrm>
        </p:spPr>
        <p:txBody>
          <a:bodyPr>
            <a:normAutofit fontScale="85000" lnSpcReduction="20000"/>
          </a:bodyPr>
          <a:lstStyle/>
          <a:p>
            <a:pPr marL="0" indent="0">
              <a:buNone/>
            </a:pPr>
            <a:r>
              <a:rPr lang="en-US" sz="2300" b="1" dirty="0"/>
              <a:t>1.</a:t>
            </a:r>
            <a:r>
              <a:rPr lang="en-US" sz="2300" b="1" dirty="0">
                <a:latin typeface="Times New Roman" panose="02020603050405020304" pitchFamily="18" charset="0"/>
                <a:cs typeface="Times New Roman" panose="02020603050405020304" pitchFamily="18" charset="0"/>
              </a:rPr>
              <a:t> Camera / Video Feed</a:t>
            </a:r>
          </a:p>
          <a:p>
            <a:r>
              <a:rPr lang="en-US" sz="2300" dirty="0">
                <a:latin typeface="Times New Roman" panose="02020603050405020304" pitchFamily="18" charset="0"/>
                <a:cs typeface="Times New Roman" panose="02020603050405020304" pitchFamily="18" charset="0"/>
              </a:rPr>
              <a:t>Function: Captures continuous real-time footage using a webcam or CCTV system.</a:t>
            </a:r>
          </a:p>
          <a:p>
            <a:r>
              <a:rPr lang="en-US" sz="2300" dirty="0">
                <a:latin typeface="Times New Roman" panose="02020603050405020304" pitchFamily="18" charset="0"/>
                <a:cs typeface="Times New Roman" panose="02020603050405020304" pitchFamily="18" charset="0"/>
              </a:rPr>
              <a:t>Output: Streams individual video frames into the pipeline for further processing.</a:t>
            </a:r>
          </a:p>
          <a:p>
            <a:r>
              <a:rPr lang="en-US" sz="2300" dirty="0">
                <a:latin typeface="Times New Roman" panose="02020603050405020304" pitchFamily="18" charset="0"/>
                <a:cs typeface="Times New Roman" panose="02020603050405020304" pitchFamily="18" charset="0"/>
              </a:rPr>
              <a:t>Connection:</a:t>
            </a:r>
          </a:p>
          <a:p>
            <a:pPr lvl="1"/>
            <a:r>
              <a:rPr lang="en-US" sz="2300" dirty="0">
                <a:latin typeface="Times New Roman" panose="02020603050405020304" pitchFamily="18" charset="0"/>
                <a:cs typeface="Times New Roman" panose="02020603050405020304" pitchFamily="18" charset="0"/>
              </a:rPr>
              <a:t>Sends raw video frames to both the Preprocessing Module and the Result Display Module for visualization.</a:t>
            </a:r>
          </a:p>
          <a:p>
            <a:pPr marL="457200" lvl="1" indent="0">
              <a:buNone/>
            </a:pPr>
            <a:endParaRPr lang="en-US" sz="2300" dirty="0">
              <a:latin typeface="Times New Roman" panose="02020603050405020304" pitchFamily="18" charset="0"/>
              <a:cs typeface="Times New Roman" panose="02020603050405020304" pitchFamily="18" charset="0"/>
            </a:endParaRPr>
          </a:p>
          <a:p>
            <a:pPr marL="0" indent="0">
              <a:buNone/>
            </a:pPr>
            <a:r>
              <a:rPr lang="en-US" sz="2300" b="1" dirty="0">
                <a:latin typeface="Times New Roman" panose="02020603050405020304" pitchFamily="18" charset="0"/>
                <a:cs typeface="Times New Roman" panose="02020603050405020304" pitchFamily="18" charset="0"/>
              </a:rPr>
              <a:t>2. Preprocessing Module (OpenCV)</a:t>
            </a:r>
          </a:p>
          <a:p>
            <a:r>
              <a:rPr lang="en-US" sz="2300" dirty="0">
                <a:latin typeface="Times New Roman" panose="02020603050405020304" pitchFamily="18" charset="0"/>
                <a:cs typeface="Times New Roman" panose="02020603050405020304" pitchFamily="18" charset="0"/>
              </a:rPr>
              <a:t>Function: Uses OpenCV to process and prepare raw frames for detection.</a:t>
            </a:r>
          </a:p>
          <a:p>
            <a:r>
              <a:rPr lang="en-US" sz="2300" dirty="0">
                <a:latin typeface="Times New Roman" panose="02020603050405020304" pitchFamily="18" charset="0"/>
                <a:cs typeface="Times New Roman" panose="02020603050405020304" pitchFamily="18" charset="0"/>
              </a:rPr>
              <a:t>Tasks Include:</a:t>
            </a:r>
          </a:p>
          <a:p>
            <a:pPr lvl="1"/>
            <a:r>
              <a:rPr lang="en-US" sz="2300" dirty="0">
                <a:latin typeface="Times New Roman" panose="02020603050405020304" pitchFamily="18" charset="0"/>
                <a:cs typeface="Times New Roman" panose="02020603050405020304" pitchFamily="18" charset="0"/>
              </a:rPr>
              <a:t>Resizing images</a:t>
            </a:r>
          </a:p>
          <a:p>
            <a:pPr lvl="1"/>
            <a:r>
              <a:rPr lang="en-US" sz="2300" dirty="0">
                <a:latin typeface="Times New Roman" panose="02020603050405020304" pitchFamily="18" charset="0"/>
                <a:cs typeface="Times New Roman" panose="02020603050405020304" pitchFamily="18" charset="0"/>
              </a:rPr>
              <a:t>Normalization</a:t>
            </a:r>
          </a:p>
          <a:p>
            <a:pPr lvl="1"/>
            <a:r>
              <a:rPr lang="en-US" sz="2300" dirty="0">
                <a:latin typeface="Times New Roman" panose="02020603050405020304" pitchFamily="18" charset="0"/>
                <a:cs typeface="Times New Roman" panose="02020603050405020304" pitchFamily="18" charset="0"/>
              </a:rPr>
              <a:t>Color space conversion</a:t>
            </a:r>
          </a:p>
          <a:p>
            <a:pPr lvl="1"/>
            <a:r>
              <a:rPr lang="en-US" sz="2300" dirty="0">
                <a:latin typeface="Times New Roman" panose="02020603050405020304" pitchFamily="18" charset="0"/>
                <a:cs typeface="Times New Roman" panose="02020603050405020304" pitchFamily="18" charset="0"/>
              </a:rPr>
              <a:t>Frame extraction if using video file</a:t>
            </a:r>
          </a:p>
          <a:p>
            <a:r>
              <a:rPr lang="en-US" sz="2300" dirty="0">
                <a:latin typeface="Times New Roman" panose="02020603050405020304" pitchFamily="18" charset="0"/>
                <a:cs typeface="Times New Roman" panose="02020603050405020304" pitchFamily="18" charset="0"/>
              </a:rPr>
              <a:t>Output: Cleaned and standardized frames suitable for input into the detection model.</a:t>
            </a:r>
          </a:p>
          <a:p>
            <a:r>
              <a:rPr lang="en-US" sz="2300" dirty="0">
                <a:latin typeface="Times New Roman" panose="02020603050405020304" pitchFamily="18" charset="0"/>
                <a:cs typeface="Times New Roman" panose="02020603050405020304" pitchFamily="18" charset="0"/>
              </a:rPr>
              <a:t>Connection:</a:t>
            </a:r>
          </a:p>
          <a:p>
            <a:pPr lvl="1"/>
            <a:r>
              <a:rPr lang="en-US" sz="2300" dirty="0">
                <a:latin typeface="Times New Roman" panose="02020603050405020304" pitchFamily="18" charset="0"/>
                <a:cs typeface="Times New Roman" panose="02020603050405020304" pitchFamily="18" charset="0"/>
              </a:rPr>
              <a:t>Forwards processed frames to the Detection Module.</a:t>
            </a:r>
          </a:p>
          <a:p>
            <a:pPr marL="0" indent="0">
              <a:buNone/>
            </a:pPr>
            <a:endParaRPr lang="en-IN" sz="1800" dirty="0"/>
          </a:p>
        </p:txBody>
      </p:sp>
    </p:spTree>
    <p:extLst>
      <p:ext uri="{BB962C8B-B14F-4D97-AF65-F5344CB8AC3E}">
        <p14:creationId xmlns:p14="http://schemas.microsoft.com/office/powerpoint/2010/main" val="88429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CB1139-8E7A-608C-2CE5-705B95BA7D63}"/>
              </a:ext>
            </a:extLst>
          </p:cNvPr>
          <p:cNvSpPr>
            <a:spLocks noGrp="1"/>
          </p:cNvSpPr>
          <p:nvPr>
            <p:ph idx="1"/>
          </p:nvPr>
        </p:nvSpPr>
        <p:spPr>
          <a:xfrm>
            <a:off x="226243" y="801279"/>
            <a:ext cx="8738648" cy="6363093"/>
          </a:xfrm>
        </p:spPr>
        <p:txBody>
          <a:bodyPr>
            <a:normAutofit/>
          </a:bodyPr>
          <a:lstStyle/>
          <a:p>
            <a:pPr marL="0" indent="0">
              <a:buNone/>
            </a:pPr>
            <a:r>
              <a:rPr lang="en-US" sz="1800" b="1" dirty="0"/>
              <a:t>3. </a:t>
            </a:r>
            <a:r>
              <a:rPr lang="en-US" sz="1800" b="1" dirty="0">
                <a:latin typeface="Times New Roman" panose="02020603050405020304" pitchFamily="18" charset="0"/>
                <a:cs typeface="Times New Roman" panose="02020603050405020304" pitchFamily="18" charset="0"/>
              </a:rPr>
              <a:t>Detection Module (YOLOv5 + </a:t>
            </a:r>
            <a:r>
              <a:rPr lang="en-US" sz="1800" b="1" dirty="0" err="1">
                <a:latin typeface="Times New Roman" panose="02020603050405020304" pitchFamily="18" charset="0"/>
                <a:cs typeface="Times New Roman" panose="02020603050405020304" pitchFamily="18" charset="0"/>
              </a:rPr>
              <a:t>PyTorch</a:t>
            </a:r>
            <a:r>
              <a:rPr lang="en-US" sz="1800" b="1"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Function: Performs real-time detection of firearms (guns, knives, grenades) in the input frames using the YOLOv5 model implemented in </a:t>
            </a:r>
            <a:r>
              <a:rPr lang="en-US" sz="1800" dirty="0" err="1">
                <a:latin typeface="Times New Roman" panose="02020603050405020304" pitchFamily="18" charset="0"/>
                <a:cs typeface="Times New Roman" panose="02020603050405020304" pitchFamily="18" charset="0"/>
              </a:rPr>
              <a:t>PyTorch</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Tasks Include:</a:t>
            </a:r>
          </a:p>
          <a:p>
            <a:pPr lvl="1"/>
            <a:r>
              <a:rPr lang="en-US" sz="1800" dirty="0">
                <a:latin typeface="Times New Roman" panose="02020603050405020304" pitchFamily="18" charset="0"/>
                <a:cs typeface="Times New Roman" panose="02020603050405020304" pitchFamily="18" charset="0"/>
              </a:rPr>
              <a:t>Running inference on each frame</a:t>
            </a:r>
          </a:p>
          <a:p>
            <a:pPr lvl="1"/>
            <a:r>
              <a:rPr lang="en-US" sz="1800" dirty="0">
                <a:latin typeface="Times New Roman" panose="02020603050405020304" pitchFamily="18" charset="0"/>
                <a:cs typeface="Times New Roman" panose="02020603050405020304" pitchFamily="18" charset="0"/>
              </a:rPr>
              <a:t>Generating bounding box coordinates and class labels</a:t>
            </a:r>
          </a:p>
          <a:p>
            <a:r>
              <a:rPr lang="en-US" sz="1800" dirty="0">
                <a:latin typeface="Times New Roman" panose="02020603050405020304" pitchFamily="18" charset="0"/>
                <a:cs typeface="Times New Roman" panose="02020603050405020304" pitchFamily="18" charset="0"/>
              </a:rPr>
              <a:t>Output: Detection results containing object positions and labels.</a:t>
            </a:r>
          </a:p>
          <a:p>
            <a:r>
              <a:rPr lang="en-US" sz="1800" dirty="0">
                <a:latin typeface="Times New Roman" panose="02020603050405020304" pitchFamily="18" charset="0"/>
                <a:cs typeface="Times New Roman" panose="02020603050405020304" pitchFamily="18" charset="0"/>
              </a:rPr>
              <a:t>Connection:</a:t>
            </a:r>
          </a:p>
          <a:p>
            <a:pPr lvl="1"/>
            <a:r>
              <a:rPr lang="en-US" sz="1800" dirty="0">
                <a:latin typeface="Times New Roman" panose="02020603050405020304" pitchFamily="18" charset="0"/>
                <a:cs typeface="Times New Roman" panose="02020603050405020304" pitchFamily="18" charset="0"/>
              </a:rPr>
              <a:t>Sends detection results to the Result Display Module.</a:t>
            </a:r>
          </a:p>
          <a:p>
            <a:pPr marL="457200" lvl="1"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4. Result Display / Alert Logging</a:t>
            </a:r>
          </a:p>
          <a:p>
            <a:r>
              <a:rPr lang="en-US" sz="1800" dirty="0">
                <a:latin typeface="Times New Roman" panose="02020603050405020304" pitchFamily="18" charset="0"/>
                <a:cs typeface="Times New Roman" panose="02020603050405020304" pitchFamily="18" charset="0"/>
              </a:rPr>
              <a:t>Function: Displays the output video stream with overlaid bounding boxes and labels on the screen.</a:t>
            </a:r>
          </a:p>
          <a:p>
            <a:r>
              <a:rPr lang="en-US" sz="1800" dirty="0">
                <a:latin typeface="Times New Roman" panose="02020603050405020304" pitchFamily="18" charset="0"/>
                <a:cs typeface="Times New Roman" panose="02020603050405020304" pitchFamily="18" charset="0"/>
              </a:rPr>
              <a:t>Current Scope:</a:t>
            </a:r>
          </a:p>
          <a:p>
            <a:pPr lvl="1"/>
            <a:r>
              <a:rPr lang="en-US" sz="1800" dirty="0">
                <a:latin typeface="Times New Roman" panose="02020603050405020304" pitchFamily="18" charset="0"/>
                <a:cs typeface="Times New Roman" panose="02020603050405020304" pitchFamily="18" charset="0"/>
              </a:rPr>
              <a:t>Provides visual feedback only — detected objects are marked in the feed.</a:t>
            </a: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422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520995"/>
            <a:ext cx="8229600" cy="457199"/>
          </a:xfrm>
        </p:spPr>
        <p:txBody>
          <a:bodyPr>
            <a:noAutofit/>
          </a:bodyPr>
          <a:lstStyle/>
          <a:p>
            <a:r>
              <a:rPr sz="2400" dirty="0"/>
              <a:t>List of Modules</a:t>
            </a:r>
          </a:p>
        </p:txBody>
      </p:sp>
      <p:sp>
        <p:nvSpPr>
          <p:cNvPr id="3" name="Content Placeholder 2"/>
          <p:cNvSpPr>
            <a:spLocks noGrp="1"/>
          </p:cNvSpPr>
          <p:nvPr>
            <p:ph idx="1"/>
          </p:nvPr>
        </p:nvSpPr>
        <p:spPr>
          <a:xfrm>
            <a:off x="128016" y="1630837"/>
            <a:ext cx="8897112" cy="4251489"/>
          </a:xfrm>
        </p:spPr>
        <p:txBody>
          <a:bodyPr>
            <a:normAutofit/>
          </a:bodyPr>
          <a:lstStyle/>
          <a:p>
            <a:pPr>
              <a:buNone/>
            </a:pPr>
            <a:r>
              <a:rPr lang="en-IN" sz="2000" b="1" dirty="0">
                <a:latin typeface="Arial" panose="020B0604020202020204" pitchFamily="34" charset="0"/>
                <a:cs typeface="Arial" panose="020B0604020202020204" pitchFamily="34" charset="0"/>
              </a:rPr>
              <a:t>Detection Module</a:t>
            </a:r>
            <a:endParaRPr lang="en-IN"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YOLOv5 model trained to recognize firearms, knives, and grenades in real-time video feeds.</a:t>
            </a:r>
          </a:p>
          <a:p>
            <a:pPr>
              <a:buNone/>
            </a:pPr>
            <a:r>
              <a:rPr lang="en-IN" sz="2000" b="1" dirty="0">
                <a:latin typeface="Arial" panose="020B0604020202020204" pitchFamily="34" charset="0"/>
                <a:cs typeface="Arial" panose="020B0604020202020204" pitchFamily="34" charset="0"/>
              </a:rPr>
              <a:t>Display Module</a:t>
            </a:r>
            <a:endParaRPr lang="en-IN"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Shows bounding boxes and labels around detected weapons directly on the video screen.</a:t>
            </a:r>
          </a:p>
          <a:p>
            <a:pPr>
              <a:buNone/>
            </a:pPr>
            <a:r>
              <a:rPr lang="en-IN" sz="2000" b="1" dirty="0">
                <a:latin typeface="Arial" panose="020B0604020202020204" pitchFamily="34" charset="0"/>
                <a:cs typeface="Arial" panose="020B0604020202020204" pitchFamily="34" charset="0"/>
              </a:rPr>
              <a:t>System Integration Module</a:t>
            </a:r>
            <a:endParaRPr lang="en-IN"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Simple setup to integrate with CCTV or webcam feeds for continuous monitoring.</a:t>
            </a:r>
          </a:p>
          <a:p>
            <a:pPr marL="0" indent="0">
              <a:buNone/>
            </a:pPr>
            <a:endParaRPr lang="en-US" sz="20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4798243" y="2538849"/>
            <a:ext cx="4128206" cy="2636483"/>
          </a:xfrm>
          <a:custGeom>
            <a:avLst/>
            <a:gdLst/>
            <a:ahLst/>
            <a:cxnLst/>
            <a:rect l="l" t="t" r="r" b="b"/>
            <a:pathLst>
              <a:path w="8708898" h="5272966">
                <a:moveTo>
                  <a:pt x="0" y="0"/>
                </a:moveTo>
                <a:lnTo>
                  <a:pt x="8708898" y="0"/>
                </a:lnTo>
                <a:lnTo>
                  <a:pt x="8708898" y="5272965"/>
                </a:lnTo>
                <a:lnTo>
                  <a:pt x="0" y="5272965"/>
                </a:lnTo>
                <a:lnTo>
                  <a:pt x="0" y="0"/>
                </a:lnTo>
                <a:close/>
              </a:path>
            </a:pathLst>
          </a:custGeom>
          <a:blipFill>
            <a:blip r:embed="rId2"/>
            <a:stretch>
              <a:fillRect/>
            </a:stretch>
          </a:blipFill>
        </p:spPr>
      </p:sp>
      <p:sp>
        <p:nvSpPr>
          <p:cNvPr id="6" name="TextBox 6"/>
          <p:cNvSpPr txBox="1"/>
          <p:nvPr/>
        </p:nvSpPr>
        <p:spPr>
          <a:xfrm>
            <a:off x="514350" y="2020498"/>
            <a:ext cx="3224475" cy="256480"/>
          </a:xfrm>
          <a:prstGeom prst="rect">
            <a:avLst/>
          </a:prstGeom>
        </p:spPr>
        <p:txBody>
          <a:bodyPr lIns="0" tIns="0" rIns="0" bIns="0" rtlCol="0" anchor="t">
            <a:spAutoFit/>
          </a:bodyPr>
          <a:lstStyle/>
          <a:p>
            <a:pPr>
              <a:lnSpc>
                <a:spcPts val="2020"/>
              </a:lnSpc>
            </a:pPr>
            <a:endParaRPr lang="en-US" sz="2150" b="1" dirty="0">
              <a:solidFill>
                <a:srgbClr val="1211CA"/>
              </a:solidFill>
              <a:latin typeface="Montserrat Classic Bold"/>
              <a:ea typeface="Montserrat Classic Bold"/>
              <a:cs typeface="Montserrat Classic Bold"/>
              <a:sym typeface="Montserrat Classic Bold"/>
            </a:endParaRPr>
          </a:p>
        </p:txBody>
      </p:sp>
      <p:sp>
        <p:nvSpPr>
          <p:cNvPr id="7" name="TextBox 7"/>
          <p:cNvSpPr txBox="1"/>
          <p:nvPr/>
        </p:nvSpPr>
        <p:spPr>
          <a:xfrm>
            <a:off x="514350" y="849037"/>
            <a:ext cx="3224475" cy="262380"/>
          </a:xfrm>
          <a:prstGeom prst="rect">
            <a:avLst/>
          </a:prstGeom>
        </p:spPr>
        <p:txBody>
          <a:bodyPr lIns="0" tIns="0" rIns="0" bIns="0" rtlCol="0" anchor="t">
            <a:spAutoFit/>
          </a:bodyPr>
          <a:lstStyle/>
          <a:p>
            <a:pPr>
              <a:lnSpc>
                <a:spcPts val="1974"/>
              </a:lnSpc>
            </a:pPr>
            <a:r>
              <a:rPr lang="en-US" sz="2400" b="1" dirty="0">
                <a:latin typeface="Arial" panose="020B0604020202020204" pitchFamily="34" charset="0"/>
                <a:ea typeface="Montserrat Heavy"/>
                <a:cs typeface="Arial" panose="020B0604020202020204" pitchFamily="34" charset="0"/>
                <a:sym typeface="Montserrat Heavy"/>
              </a:rPr>
              <a:t>Working of YOLO</a:t>
            </a:r>
          </a:p>
        </p:txBody>
      </p:sp>
      <p:sp>
        <p:nvSpPr>
          <p:cNvPr id="8" name="TextBox 8"/>
          <p:cNvSpPr txBox="1"/>
          <p:nvPr/>
        </p:nvSpPr>
        <p:spPr>
          <a:xfrm>
            <a:off x="130444" y="1718137"/>
            <a:ext cx="4734718" cy="3078407"/>
          </a:xfrm>
          <a:prstGeom prst="rect">
            <a:avLst/>
          </a:prstGeom>
        </p:spPr>
        <p:txBody>
          <a:bodyPr lIns="0" tIns="0" rIns="0" bIns="0" rtlCol="0" anchor="t">
            <a:spAutoFit/>
          </a:bodyPr>
          <a:lstStyle/>
          <a:p>
            <a:pPr marL="285750" indent="-285750">
              <a:lnSpc>
                <a:spcPts val="2183"/>
              </a:lnSpc>
              <a:buFont typeface="Arial" panose="020B0604020202020204" pitchFamily="34" charset="0"/>
              <a:buChar char="•"/>
            </a:pPr>
            <a:r>
              <a:rPr lang="en-US" dirty="0">
                <a:solidFill>
                  <a:srgbClr val="2D262A"/>
                </a:solidFill>
                <a:latin typeface="Arial" panose="020B0604020202020204" pitchFamily="34" charset="0"/>
                <a:ea typeface="Montserrat Classic"/>
                <a:cs typeface="Arial" panose="020B0604020202020204" pitchFamily="34" charset="0"/>
                <a:sym typeface="Montserrat Classic"/>
              </a:rPr>
              <a:t>YOLO divides the image into a grid and predicts bounding boxes and class probabilities for each grid cell.</a:t>
            </a:r>
          </a:p>
          <a:p>
            <a:pPr>
              <a:lnSpc>
                <a:spcPts val="2183"/>
              </a:lnSpc>
            </a:pPr>
            <a:endParaRPr lang="en-US" dirty="0">
              <a:solidFill>
                <a:srgbClr val="2D262A"/>
              </a:solidFill>
              <a:latin typeface="Arial" panose="020B0604020202020204" pitchFamily="34" charset="0"/>
              <a:ea typeface="Montserrat Classic"/>
              <a:cs typeface="Arial" panose="020B0604020202020204" pitchFamily="34" charset="0"/>
              <a:sym typeface="Montserrat Classic"/>
            </a:endParaRPr>
          </a:p>
          <a:p>
            <a:pPr marL="285750" indent="-285750">
              <a:lnSpc>
                <a:spcPts val="2183"/>
              </a:lnSpc>
              <a:buFont typeface="Arial" panose="020B0604020202020204" pitchFamily="34" charset="0"/>
              <a:buChar char="•"/>
            </a:pPr>
            <a:r>
              <a:rPr lang="en-US" dirty="0">
                <a:solidFill>
                  <a:srgbClr val="2D262A"/>
                </a:solidFill>
                <a:latin typeface="Arial" panose="020B0604020202020204" pitchFamily="34" charset="0"/>
                <a:ea typeface="Montserrat Classic"/>
                <a:cs typeface="Arial" panose="020B0604020202020204" pitchFamily="34" charset="0"/>
                <a:sym typeface="Montserrat Classic"/>
              </a:rPr>
              <a:t>It uses a single neural network to make predictions, resulting in faster and more efficient processing.</a:t>
            </a:r>
          </a:p>
          <a:p>
            <a:pPr>
              <a:lnSpc>
                <a:spcPts val="2183"/>
              </a:lnSpc>
            </a:pPr>
            <a:endParaRPr lang="en-US" dirty="0">
              <a:solidFill>
                <a:srgbClr val="2D262A"/>
              </a:solidFill>
              <a:latin typeface="Arial" panose="020B0604020202020204" pitchFamily="34" charset="0"/>
              <a:ea typeface="Montserrat Classic"/>
              <a:cs typeface="Arial" panose="020B0604020202020204" pitchFamily="34" charset="0"/>
              <a:sym typeface="Montserrat Classic"/>
            </a:endParaRPr>
          </a:p>
          <a:p>
            <a:pPr marL="285750" indent="-285750">
              <a:lnSpc>
                <a:spcPts val="2183"/>
              </a:lnSpc>
              <a:buFont typeface="Arial" panose="020B0604020202020204" pitchFamily="34" charset="0"/>
              <a:buChar char="•"/>
            </a:pPr>
            <a:r>
              <a:rPr lang="en-US" dirty="0">
                <a:solidFill>
                  <a:srgbClr val="2D262A"/>
                </a:solidFill>
                <a:latin typeface="Arial" panose="020B0604020202020204" pitchFamily="34" charset="0"/>
                <a:ea typeface="Montserrat Classic"/>
                <a:cs typeface="Arial" panose="020B0604020202020204" pitchFamily="34" charset="0"/>
                <a:sym typeface="Montserrat Classic"/>
              </a:rPr>
              <a:t>YOLO utilizes a combination of convolutional layers and fully connected layers for object detection.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2324296" y="669014"/>
            <a:ext cx="4302747" cy="262380"/>
          </a:xfrm>
          <a:prstGeom prst="rect">
            <a:avLst/>
          </a:prstGeom>
        </p:spPr>
        <p:txBody>
          <a:bodyPr wrap="square" lIns="0" tIns="0" rIns="0" bIns="0" rtlCol="0" anchor="t">
            <a:spAutoFit/>
          </a:bodyPr>
          <a:lstStyle/>
          <a:p>
            <a:pPr>
              <a:lnSpc>
                <a:spcPts val="1974"/>
              </a:lnSpc>
            </a:pPr>
            <a:r>
              <a:rPr lang="en-US" sz="2400" dirty="0">
                <a:latin typeface="Arial" panose="020B0604020202020204" pitchFamily="34" charset="0"/>
                <a:ea typeface="Anton"/>
                <a:cs typeface="Arial" panose="020B0604020202020204" pitchFamily="34" charset="0"/>
                <a:sym typeface="Anton"/>
              </a:rPr>
              <a:t>Training the yolo model</a:t>
            </a:r>
          </a:p>
        </p:txBody>
      </p:sp>
      <p:sp>
        <p:nvSpPr>
          <p:cNvPr id="8" name="TextBox 8"/>
          <p:cNvSpPr txBox="1"/>
          <p:nvPr/>
        </p:nvSpPr>
        <p:spPr>
          <a:xfrm>
            <a:off x="429508" y="1601691"/>
            <a:ext cx="8271432" cy="1949252"/>
          </a:xfrm>
          <a:prstGeom prst="rect">
            <a:avLst/>
          </a:prstGeom>
        </p:spPr>
        <p:txBody>
          <a:bodyPr wrap="square" lIns="0" tIns="0" rIns="0" bIns="0" rtlCol="0" anchor="t">
            <a:spAutoFit/>
          </a:bodyPr>
          <a:lstStyle/>
          <a:p>
            <a:pPr marL="285750" indent="-285750">
              <a:lnSpc>
                <a:spcPts val="1933"/>
              </a:lnSpc>
              <a:buFont typeface="Arial" panose="020B0604020202020204" pitchFamily="34" charset="0"/>
              <a:buChar char="•"/>
            </a:pPr>
            <a:r>
              <a:rPr lang="en-US" spc="-21" dirty="0">
                <a:latin typeface="Arial" panose="020B0604020202020204" pitchFamily="34" charset="0"/>
                <a:ea typeface="Prompt"/>
                <a:cs typeface="Arial" panose="020B0604020202020204" pitchFamily="34" charset="0"/>
                <a:sym typeface="Prompt"/>
              </a:rPr>
              <a:t>The YOLO model is trained using a large dataset of labeled images containing guns.</a:t>
            </a:r>
          </a:p>
          <a:p>
            <a:pPr>
              <a:lnSpc>
                <a:spcPts val="1933"/>
              </a:lnSpc>
            </a:pPr>
            <a:endParaRPr lang="en-US" spc="-21" dirty="0">
              <a:latin typeface="Arial" panose="020B0604020202020204" pitchFamily="34" charset="0"/>
              <a:ea typeface="Prompt"/>
              <a:cs typeface="Arial" panose="020B0604020202020204" pitchFamily="34" charset="0"/>
              <a:sym typeface="Prompt"/>
            </a:endParaRPr>
          </a:p>
          <a:p>
            <a:pPr marL="285750" indent="-285750">
              <a:lnSpc>
                <a:spcPts val="1933"/>
              </a:lnSpc>
              <a:buFont typeface="Arial" panose="020B0604020202020204" pitchFamily="34" charset="0"/>
              <a:buChar char="•"/>
            </a:pPr>
            <a:r>
              <a:rPr lang="en-US" spc="-21" dirty="0">
                <a:latin typeface="Arial" panose="020B0604020202020204" pitchFamily="34" charset="0"/>
                <a:ea typeface="Prompt"/>
                <a:cs typeface="Arial" panose="020B0604020202020204" pitchFamily="34" charset="0"/>
                <a:sym typeface="Prompt"/>
              </a:rPr>
              <a:t>The model learns to detect guns by optimizing its parameters through a process called backpropagation.</a:t>
            </a:r>
          </a:p>
          <a:p>
            <a:pPr>
              <a:lnSpc>
                <a:spcPts val="1933"/>
              </a:lnSpc>
            </a:pPr>
            <a:endParaRPr lang="en-US" spc="-21" dirty="0">
              <a:latin typeface="Arial" panose="020B0604020202020204" pitchFamily="34" charset="0"/>
              <a:ea typeface="Prompt"/>
              <a:cs typeface="Arial" panose="020B0604020202020204" pitchFamily="34" charset="0"/>
              <a:sym typeface="Prompt"/>
            </a:endParaRPr>
          </a:p>
          <a:p>
            <a:pPr marL="285750" indent="-285750">
              <a:lnSpc>
                <a:spcPts val="1933"/>
              </a:lnSpc>
              <a:buFont typeface="Arial" panose="020B0604020202020204" pitchFamily="34" charset="0"/>
              <a:buChar char="•"/>
            </a:pPr>
            <a:r>
              <a:rPr lang="en-US" spc="-21" dirty="0">
                <a:latin typeface="Arial" panose="020B0604020202020204" pitchFamily="34" charset="0"/>
                <a:ea typeface="Prompt"/>
                <a:cs typeface="Arial" panose="020B0604020202020204" pitchFamily="34" charset="0"/>
                <a:sym typeface="Prompt"/>
              </a:rPr>
              <a:t>Training involves adjusting the weights and biases of the neural network to minimize the detection errors.</a:t>
            </a:r>
          </a:p>
        </p:txBody>
      </p:sp>
      <p:sp>
        <p:nvSpPr>
          <p:cNvPr id="10" name="TextBox 10"/>
          <p:cNvSpPr txBox="1"/>
          <p:nvPr/>
        </p:nvSpPr>
        <p:spPr>
          <a:xfrm>
            <a:off x="707010" y="4176073"/>
            <a:ext cx="3234491" cy="1384995"/>
          </a:xfrm>
          <a:prstGeom prst="rect">
            <a:avLst/>
          </a:prstGeom>
        </p:spPr>
        <p:txBody>
          <a:bodyPr wrap="square" lIns="0" tIns="0" rIns="0" bIns="0" rtlCol="0" anchor="t">
            <a:spAutoFit/>
          </a:bodyPr>
          <a:lstStyle/>
          <a:p>
            <a:pPr algn="just"/>
            <a:r>
              <a:rPr lang="en-US" b="1" spc="-22" dirty="0">
                <a:latin typeface="Arial" panose="020B0604020202020204" pitchFamily="34" charset="0"/>
                <a:ea typeface="Prompt Semi-Bold"/>
                <a:cs typeface="Arial" panose="020B0604020202020204" pitchFamily="34" charset="0"/>
                <a:sym typeface="Prompt Semi-Bold"/>
              </a:rPr>
              <a:t>LEGEND</a:t>
            </a:r>
          </a:p>
          <a:p>
            <a:pPr algn="just"/>
            <a:r>
              <a:rPr lang="en-US" spc="-18" dirty="0">
                <a:latin typeface="Arial" panose="020B0604020202020204" pitchFamily="34" charset="0"/>
                <a:ea typeface="Prompt"/>
                <a:cs typeface="Arial" panose="020B0604020202020204" pitchFamily="34" charset="0"/>
                <a:sym typeface="Prompt"/>
              </a:rPr>
              <a:t>0      -   Grenades</a:t>
            </a:r>
          </a:p>
          <a:p>
            <a:pPr algn="just"/>
            <a:r>
              <a:rPr lang="en-US" spc="-18" dirty="0">
                <a:latin typeface="Arial" panose="020B0604020202020204" pitchFamily="34" charset="0"/>
                <a:ea typeface="Prompt"/>
                <a:cs typeface="Arial" panose="020B0604020202020204" pitchFamily="34" charset="0"/>
                <a:sym typeface="Prompt"/>
              </a:rPr>
              <a:t>1      -   Knives</a:t>
            </a:r>
          </a:p>
          <a:p>
            <a:pPr algn="just"/>
            <a:r>
              <a:rPr lang="en-US" spc="-18" dirty="0">
                <a:latin typeface="Arial" panose="020B0604020202020204" pitchFamily="34" charset="0"/>
                <a:ea typeface="Prompt"/>
                <a:cs typeface="Arial" panose="020B0604020202020204" pitchFamily="34" charset="0"/>
                <a:sym typeface="Prompt"/>
              </a:rPr>
              <a:t>2&amp;3 -   Firearms</a:t>
            </a:r>
          </a:p>
          <a:p>
            <a:pPr algn="just">
              <a:spcBef>
                <a:spcPct val="0"/>
              </a:spcBef>
            </a:pPr>
            <a:r>
              <a:rPr lang="en-US" spc="-18" dirty="0">
                <a:latin typeface="Arial" panose="020B0604020202020204" pitchFamily="34" charset="0"/>
                <a:ea typeface="Prompt"/>
                <a:cs typeface="Arial" panose="020B0604020202020204" pitchFamily="34" charset="0"/>
                <a:sym typeface="Prompt"/>
              </a:rPr>
              <a:t>4      -   Humans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ECFF8D04-1F6C-0A3D-260D-36D9F7B4F079}"/>
              </a:ext>
            </a:extLst>
          </p:cNvPr>
          <p:cNvSpPr txBox="1"/>
          <p:nvPr/>
        </p:nvSpPr>
        <p:spPr>
          <a:xfrm>
            <a:off x="3740910" y="464372"/>
            <a:ext cx="1245870" cy="577850"/>
          </a:xfrm>
          <a:prstGeom prst="rect">
            <a:avLst/>
          </a:prstGeom>
        </p:spPr>
        <p:txBody>
          <a:bodyPr wrap="square" lIns="0" tIns="0" rIns="0" bIns="0" rtlCol="0" anchor="t">
            <a:spAutoFit/>
          </a:bodyPr>
          <a:lstStyle/>
          <a:p>
            <a:pPr>
              <a:lnSpc>
                <a:spcPts val="2183"/>
              </a:lnSpc>
            </a:pPr>
            <a:r>
              <a:rPr lang="en-US" sz="2800" dirty="0">
                <a:solidFill>
                  <a:srgbClr val="2D262A"/>
                </a:solidFill>
                <a:latin typeface="Times New Roman" panose="02020603050405020304" pitchFamily="18" charset="0"/>
                <a:ea typeface="Montserrat Classic"/>
                <a:cs typeface="Times New Roman" panose="02020603050405020304" pitchFamily="18" charset="0"/>
                <a:sym typeface="Montserrat Classic"/>
              </a:rPr>
              <a:t>Output</a:t>
            </a:r>
          </a:p>
          <a:p>
            <a:pPr>
              <a:lnSpc>
                <a:spcPts val="2183"/>
              </a:lnSpc>
            </a:pPr>
            <a:endParaRPr lang="en-US" sz="2800" dirty="0">
              <a:solidFill>
                <a:srgbClr val="2D262A"/>
              </a:solidFill>
              <a:latin typeface="Times New Roman" panose="02020603050405020304" pitchFamily="18" charset="0"/>
              <a:ea typeface="Montserrat Classic"/>
              <a:cs typeface="Times New Roman" panose="02020603050405020304" pitchFamily="18" charset="0"/>
              <a:sym typeface="Montserrat Classic"/>
            </a:endParaRPr>
          </a:p>
        </p:txBody>
      </p:sp>
      <p:pic>
        <p:nvPicPr>
          <p:cNvPr id="3" name="Picture 2">
            <a:extLst>
              <a:ext uri="{FF2B5EF4-FFF2-40B4-BE49-F238E27FC236}">
                <a16:creationId xmlns:a16="http://schemas.microsoft.com/office/drawing/2014/main" id="{BBA60852-95E4-1834-0EE1-0808DC4C321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788" y="1706252"/>
            <a:ext cx="7117800" cy="3519076"/>
          </a:xfrm>
          <a:prstGeom prst="rect">
            <a:avLst/>
          </a:prstGeom>
          <a:noFill/>
          <a:ln>
            <a:noFill/>
          </a:ln>
        </p:spPr>
      </p:pic>
    </p:spTree>
    <p:extLst>
      <p:ext uri="{BB962C8B-B14F-4D97-AF65-F5344CB8AC3E}">
        <p14:creationId xmlns:p14="http://schemas.microsoft.com/office/powerpoint/2010/main" val="1993482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7784"/>
            <a:ext cx="8229600" cy="640079"/>
          </a:xfrm>
        </p:spPr>
        <p:txBody>
          <a:bodyPr>
            <a:normAutofit/>
          </a:bodyPr>
          <a:lstStyle/>
          <a:p>
            <a:r>
              <a:rPr lang="en-IN" sz="2800" dirty="0"/>
              <a:t>Conclusion</a:t>
            </a:r>
            <a:endParaRPr sz="2800" dirty="0"/>
          </a:p>
        </p:txBody>
      </p:sp>
      <p:sp>
        <p:nvSpPr>
          <p:cNvPr id="3" name="Content Placeholder 2"/>
          <p:cNvSpPr>
            <a:spLocks noGrp="1"/>
          </p:cNvSpPr>
          <p:nvPr>
            <p:ph idx="1"/>
          </p:nvPr>
        </p:nvSpPr>
        <p:spPr>
          <a:xfrm>
            <a:off x="237744" y="1791091"/>
            <a:ext cx="8796528" cy="5357347"/>
          </a:xfrm>
        </p:spPr>
        <p:txBody>
          <a:bodyPr>
            <a:normAutofit/>
          </a:bodyPr>
          <a:lstStyle/>
          <a:p>
            <a:r>
              <a:rPr lang="en-US" sz="2000" dirty="0"/>
              <a:t>The proposed </a:t>
            </a:r>
            <a:r>
              <a:rPr lang="en-US" sz="2000" b="1" dirty="0"/>
              <a:t>Real-Time Gun Detection System</a:t>
            </a:r>
            <a:r>
              <a:rPr lang="en-US" sz="2000" dirty="0"/>
              <a:t> provides an effective solution for automatically identifying firearms and dangerous weapons using deep learning. By automating the surveillance process, the system improves the speed and accuracy of monitoring activities. It focuses on simple, real-time detection without threat classification or alert generation, making it easy to integrate with existing CCTV infrastructure. In today’s security-challenged world, such AI-powered monitoring systems can play a key role in strengthening public safety.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881</TotalTime>
  <Words>1011</Words>
  <Application>Microsoft Office PowerPoint</Application>
  <PresentationFormat>On-screen Show (4:3)</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Montserrat Classic Bold</vt:lpstr>
      <vt:lpstr>Times New Roman</vt:lpstr>
      <vt:lpstr>Office Theme</vt:lpstr>
      <vt:lpstr>A Mini Project Report on REAL-TIME GUN DETECTION USING MACHINE LEARNING</vt:lpstr>
      <vt:lpstr>Abstract</vt:lpstr>
      <vt:lpstr>Introduction</vt:lpstr>
      <vt:lpstr>Existing Methodology </vt:lpstr>
      <vt:lpstr>Proposed Methodology</vt:lpstr>
      <vt:lpstr>System Architecture</vt:lpstr>
      <vt:lpstr>PowerPoint Presentation</vt:lpstr>
      <vt:lpstr>PowerPoint Presentation</vt:lpstr>
      <vt:lpstr>List of Modules</vt:lpstr>
      <vt:lpstr>PowerPoint Presentation</vt:lpstr>
      <vt:lpstr>PowerPoint Presentation</vt:lpstr>
      <vt:lpstr>PowerPoint Presentation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Rakshith</dc:creator>
  <cp:keywords/>
  <dc:description>generated using python-pptx</dc:description>
  <cp:lastModifiedBy>Sravani Kaveli</cp:lastModifiedBy>
  <cp:revision>34</cp:revision>
  <dcterms:created xsi:type="dcterms:W3CDTF">2013-01-27T09:14:16Z</dcterms:created>
  <dcterms:modified xsi:type="dcterms:W3CDTF">2025-06-11T01:27:53Z</dcterms:modified>
  <cp:category/>
</cp:coreProperties>
</file>